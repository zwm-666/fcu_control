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7" r:id="rId3"/>
    <p:sldId id="273" r:id="rId4"/>
    <p:sldId id="275" r:id="rId5"/>
    <p:sldId id="257" r:id="rId6"/>
    <p:sldId id="268" r:id="rId7"/>
    <p:sldId id="258" r:id="rId8"/>
    <p:sldId id="269" r:id="rId9"/>
    <p:sldId id="259" r:id="rId10"/>
    <p:sldId id="270" r:id="rId11"/>
    <p:sldId id="261" r:id="rId12"/>
    <p:sldId id="277" r:id="rId13"/>
    <p:sldId id="260" r:id="rId14"/>
    <p:sldId id="276" r:id="rId15"/>
    <p:sldId id="262" r:id="rId16"/>
    <p:sldId id="263" r:id="rId17"/>
    <p:sldId id="264" r:id="rId18"/>
    <p:sldId id="266" r:id="rId19"/>
    <p:sldId id="271" r:id="rId20"/>
    <p:sldId id="26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E3EC"/>
    <a:srgbClr val="D8E2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0" autoAdjust="0"/>
    <p:restoredTop sz="91492" autoAdjust="0"/>
  </p:normalViewPr>
  <p:slideViewPr>
    <p:cSldViewPr snapToGrid="0">
      <p:cViewPr varScale="1">
        <p:scale>
          <a:sx n="84" d="100"/>
          <a:sy n="84" d="100"/>
        </p:scale>
        <p:origin x="412" y="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531817-2A1E-40A7-BF01-1DA1E88AFEE6}" type="datetimeFigureOut">
              <a:rPr lang="zh-CN" altLang="en-US" smtClean="0"/>
              <a:t>2026-04-14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71360B-BDB3-461E-8A70-F7655266D5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732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71360B-BDB3-461E-8A70-F7655266D56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897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9601200" y="3657600"/>
            <a:ext cx="3200400" cy="32004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rPr dirty="0" err="1">
                <a:solidFill>
                  <a:srgbClr val="1A36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氢燃料电池故障诊断模型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CADCFC"/>
                </a:solidFill>
                <a:latin typeface="Calibri"/>
              </a:defRPr>
            </a:pPr>
            <a:r>
              <a:rPr>
                <a:solidFill/>
                <a:latin typeface="Times New Roman" panose="02020603050405020304" pitchFamily="18" charset="0"/>
                <a:cs typeface="Times New Roman" panose="02020603050405020304" pitchFamily="18" charset="0"/>
              </a:rPr>
              <a:t>基于 CEO-QAAdamW-EnhancedMSTGAT 深度学习架构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rPr dirty="0" err="1">
                <a:solidFill>
                  <a:srgbClr val="3D5A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数据集介绍</a:t>
            </a:r>
            <a:r>
              <a:rPr dirty="0">
                <a:solidFill>
                  <a:srgbClr val="3D5A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dirty="0" err="1">
                <a:solidFill>
                  <a:srgbClr val="3D5A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模型架构</a:t>
            </a:r>
            <a:r>
              <a:rPr dirty="0">
                <a:solidFill>
                  <a:srgbClr val="3D5A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dirty="0" err="1">
                <a:solidFill>
                  <a:srgbClr val="3D5A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参数优化</a:t>
            </a:r>
            <a:r>
              <a:rPr dirty="0">
                <a:solidFill>
                  <a:srgbClr val="3D5A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dirty="0" err="1">
                <a:solidFill>
                  <a:srgbClr val="3D5A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分类结果</a:t>
            </a:r>
            <a:r>
              <a:rPr dirty="0">
                <a:solidFill>
                  <a:srgbClr val="3D5A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dirty="0" err="1">
                <a:solidFill>
                  <a:srgbClr val="3D5A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启停数据分析</a:t>
            </a:r>
            <a:r>
              <a:rPr dirty="0">
                <a:solidFill>
                  <a:srgbClr val="3D5A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dirty="0" err="1">
                <a:solidFill>
                  <a:srgbClr val="3D5A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部署方案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635508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6B7B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2026年4月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0000" y="1200000"/>
            <a:ext cx="80000" cy="4000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00000"/>
            <a:ext cx="9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A365D"/>
                </a:solidFill>
              </a:rPr>
              <a:t>目  录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100000"/>
            <a:ext cx="370000" cy="3700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0000" y="1080000"/>
            <a:ext cx="4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65D"/>
                </a:solidFill>
              </a:rPr>
              <a:t>数据集介绍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0000" y="1320000"/>
            <a:ext cx="5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B8D"/>
                </a:solidFill>
              </a:rPr>
              <a:t>数据来源、特征工程与样本分布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0000"/>
            <a:ext cx="10500000" cy="1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" y="1670000"/>
            <a:ext cx="370000" cy="3700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0000" y="1650000"/>
            <a:ext cx="4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65D"/>
                </a:solidFill>
              </a:rPr>
              <a:t>模型架构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0000" y="1890000"/>
            <a:ext cx="5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B8D"/>
                </a:solidFill>
              </a:rPr>
              <a:t>EnhancedMSTGAT 网络结构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140000"/>
            <a:ext cx="10500000" cy="1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31520" y="2240000"/>
            <a:ext cx="370000" cy="3700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0000" y="2220000"/>
            <a:ext cx="4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65D"/>
                </a:solidFill>
              </a:rPr>
              <a:t>参数优化与训练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0000" y="2460000"/>
            <a:ext cx="5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B8D"/>
                </a:solidFill>
              </a:rPr>
              <a:t>CEO搜索、QAAdamW优化器配置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710000"/>
            <a:ext cx="10500000" cy="1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31520" y="2810000"/>
            <a:ext cx="370000" cy="3700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0000" y="2790000"/>
            <a:ext cx="4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65D"/>
                </a:solidFill>
              </a:rPr>
              <a:t>GBDT 特征重要性分析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0000" y="3030000"/>
            <a:ext cx="5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B8D"/>
                </a:solidFill>
              </a:rPr>
              <a:t>Top-10 特征筛选与贡献度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280000"/>
            <a:ext cx="10500000" cy="1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31520" y="3380000"/>
            <a:ext cx="370000" cy="3700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0000" y="3360000"/>
            <a:ext cx="4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65D"/>
                </a:solidFill>
              </a:rPr>
              <a:t>故障分类结果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0000" y="3600000"/>
            <a:ext cx="5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B8D"/>
                </a:solidFill>
              </a:rPr>
              <a:t>多比例验证与对比分析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850000"/>
            <a:ext cx="10500000" cy="1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31520" y="3950000"/>
            <a:ext cx="370000" cy="3700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0000" y="3930000"/>
            <a:ext cx="4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65D"/>
                </a:solidFill>
              </a:rPr>
              <a:t>离线部署方案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0000" y="4170000"/>
            <a:ext cx="5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B8D"/>
                </a:solidFill>
              </a:rPr>
              <a:t>模型序列化、推理流水线与部署策略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420000"/>
            <a:ext cx="10500000" cy="1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31520" y="4520000"/>
            <a:ext cx="370000" cy="3700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0000" y="4500000"/>
            <a:ext cx="4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65D"/>
                </a:solidFill>
              </a:rPr>
              <a:t>新增数据分析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0000" y="4740000"/>
            <a:ext cx="5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B8D"/>
                </a:solidFill>
              </a:rPr>
              <a:t>启停数据 GBDT 分类与验证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990000"/>
            <a:ext cx="10500000" cy="1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31520" y="5090000"/>
            <a:ext cx="370000" cy="3700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0000" y="5070000"/>
            <a:ext cx="4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65D"/>
                </a:solidFill>
              </a:rPr>
              <a:t>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C4F67-FFD0-0E32-6CAC-6C7BBA3A6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D7DF9B-4A95-9803-3657-C8BEAFD8092E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3465BD-16E2-9810-060B-0DE1800718A5}"/>
              </a:ext>
            </a:extLst>
          </p:cNvPr>
          <p:cNvSpPr txBox="1"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01  数据集介绍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DD1B16EF-D28D-612B-E2F1-465EACE0269C}"/>
              </a:ext>
            </a:extLst>
          </p:cNvPr>
          <p:cNvPicPr>
            <a:picLocks/>
          </p:cNvPicPr>
          <p:nvPr/>
        </p:nvPicPr>
        <p:blipFill>
          <a:blip r:embed="rId2"/>
          <a:srcRect t="8890" b="26450"/>
          <a:stretch>
            <a:fillRect/>
          </a:stretch>
        </p:blipFill>
        <p:spPr>
          <a:xfrm>
            <a:off x="3524097" y="1234440"/>
            <a:ext cx="5143500" cy="4434348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F0451AF9-EA75-A6A6-8A0C-DEF1BD50FE4A}"/>
              </a:ext>
            </a:extLst>
          </p:cNvPr>
          <p:cNvSpPr txBox="1"/>
          <p:nvPr/>
        </p:nvSpPr>
        <p:spPr>
          <a:xfrm>
            <a:off x="3023267" y="5897388"/>
            <a:ext cx="6145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数据采集测试台</a:t>
            </a:r>
          </a:p>
        </p:txBody>
      </p:sp>
    </p:spTree>
    <p:extLst>
      <p:ext uri="{BB962C8B-B14F-4D97-AF65-F5344CB8AC3E}">
        <p14:creationId xmlns:p14="http://schemas.microsoft.com/office/powerpoint/2010/main" val="3619571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DEBC4-E9E4-9DCC-81F7-0255F50D3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B051BF-2910-C317-1C36-D367D1306280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188F87-1C2A-36A7-7B1B-A43D86C3741F}"/>
              </a:ext>
            </a:extLst>
          </p:cNvPr>
          <p:cNvSpPr txBox="1"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01  数据集介绍</a:t>
            </a:r>
          </a:p>
        </p:txBody>
      </p:sp>
      <p:graphicFrame>
        <p:nvGraphicFramePr>
          <p:cNvPr id="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630501"/>
              </p:ext>
            </p:extLst>
          </p:nvPr>
        </p:nvGraphicFramePr>
        <p:xfrm>
          <a:off x="937997" y="1234440"/>
          <a:ext cx="1069848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类别</a:t>
                      </a:r>
                      <a:endParaRPr dirty="0"/>
                    </a:p>
                  </a:txBody>
                  <a:tcPr marL="109728" marR="73152" marT="54864" marB="54864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特征名称</a:t>
                      </a:r>
                    </a:p>
                  </a:txBody>
                  <a:tcPr marL="109728" marR="73152" marT="54864" marB="54864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marL="109728" marR="73152" marT="54864" marB="54864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数据类型</a:t>
                      </a:r>
                    </a:p>
                  </a:txBody>
                  <a:tcPr marL="109728" marR="73152" marT="54864" marB="54864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说明</a:t>
                      </a:r>
                      <a:endParaRPr dirty="0"/>
                    </a:p>
                  </a:txBody>
                  <a:tcPr marL="109728" marR="73152" marT="54864" marB="54864"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时间</a:t>
                      </a:r>
                      <a:endParaRPr dirty="0"/>
                    </a:p>
                  </a:txBody>
                  <a:tcPr marL="109728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测试时间</a:t>
                      </a:r>
                      <a:endParaRPr dirty="0"/>
                    </a:p>
                  </a:txBody>
                  <a:tcPr marL="109728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555555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marL="109728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555555"/>
                          </a:solidFill>
                          <a:latin typeface="Microsoft YaHei"/>
                        </a:defRPr>
                      </a:pPr>
                      <a:r>
                        <a:t>datetime</a:t>
                      </a:r>
                    </a:p>
                  </a:txBody>
                  <a:tcPr marL="109728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555555"/>
                          </a:solidFill>
                          <a:latin typeface="Microsoft YaHei"/>
                        </a:defRPr>
                      </a:pPr>
                      <a:endParaRPr dirty="0"/>
                    </a:p>
                  </a:txBody>
                  <a:tcPr marL="109728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阻抗统计</a:t>
                      </a:r>
                    </a:p>
                  </a:txBody>
                  <a:tcPr marL="109728" marR="73152"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总阻抗</a:t>
                      </a:r>
                      <a:r>
                        <a:rPr dirty="0"/>
                        <a:t> / </a:t>
                      </a:r>
                      <a:r>
                        <a:rPr dirty="0" err="1"/>
                        <a:t>平均阻抗</a:t>
                      </a:r>
                      <a:r>
                        <a:rPr dirty="0"/>
                        <a:t> / </a:t>
                      </a:r>
                      <a:r>
                        <a:rPr dirty="0" err="1"/>
                        <a:t>最高阻抗</a:t>
                      </a:r>
                      <a:r>
                        <a:rPr dirty="0"/>
                        <a:t> / </a:t>
                      </a:r>
                      <a:r>
                        <a:rPr dirty="0" err="1"/>
                        <a:t>次高阻抗</a:t>
                      </a:r>
                      <a:endParaRPr dirty="0"/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最低阻抗</a:t>
                      </a:r>
                      <a:r>
                        <a:rPr dirty="0"/>
                        <a:t> / </a:t>
                      </a:r>
                      <a:r>
                        <a:rPr dirty="0" err="1"/>
                        <a:t>次低阻抗</a:t>
                      </a:r>
                      <a:r>
                        <a:rPr dirty="0"/>
                        <a:t> / </a:t>
                      </a:r>
                      <a:r>
                        <a:rPr dirty="0" err="1"/>
                        <a:t>标准差</a:t>
                      </a:r>
                      <a:endParaRPr dirty="0"/>
                    </a:p>
                  </a:txBody>
                  <a:tcPr marL="109728" marR="73152"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555555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 marL="109728" marR="73152"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555555"/>
                          </a:solidFill>
                          <a:latin typeface="Microsoft YaHei"/>
                        </a:defRPr>
                      </a:pPr>
                      <a:r>
                        <a:t>float</a:t>
                      </a:r>
                    </a:p>
                  </a:txBody>
                  <a:tcPr marL="109728" marR="73152"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555555"/>
                          </a:solidFill>
                          <a:latin typeface="Microsoft YaHei"/>
                        </a:defRPr>
                      </a:pPr>
                      <a:r>
                        <a:t>电堆整体阻抗的统计量，反映电堆健康状态</a:t>
                      </a:r>
                    </a:p>
                  </a:txBody>
                  <a:tcPr marL="109728" marR="73152"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EIS特征</a:t>
                      </a:r>
                    </a:p>
                  </a:txBody>
                  <a:tcPr marL="109728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EIS电阻实部</a:t>
                      </a:r>
                      <a:r>
                        <a:rPr dirty="0"/>
                        <a:t> / </a:t>
                      </a:r>
                      <a:r>
                        <a:rPr dirty="0" err="1"/>
                        <a:t>EIS电阻虚部</a:t>
                      </a:r>
                      <a:endParaRPr dirty="0"/>
                    </a:p>
                  </a:txBody>
                  <a:tcPr marL="109728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555555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marL="109728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555555"/>
                          </a:solidFill>
                          <a:latin typeface="Microsoft YaHei"/>
                        </a:defRPr>
                      </a:pPr>
                      <a:r>
                        <a:t>float</a:t>
                      </a:r>
                    </a:p>
                  </a:txBody>
                  <a:tcPr marL="109728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555555"/>
                          </a:solidFill>
                          <a:latin typeface="Microsoft YaHei"/>
                        </a:defRPr>
                      </a:pPr>
                      <a:r>
                        <a:t>电化学阻抗谱特征，用于诊断膜电极退化</a:t>
                      </a:r>
                    </a:p>
                  </a:txBody>
                  <a:tcPr marL="109728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单片电压</a:t>
                      </a:r>
                    </a:p>
                  </a:txBody>
                  <a:tcPr marL="109728" marR="73152"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单片1 ~ 单片216</a:t>
                      </a:r>
                    </a:p>
                  </a:txBody>
                  <a:tcPr marL="109728" marR="73152"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555555"/>
                          </a:solidFill>
                          <a:latin typeface="Microsoft YaHei"/>
                        </a:defRPr>
                      </a:pPr>
                      <a:r>
                        <a:t>216</a:t>
                      </a:r>
                    </a:p>
                  </a:txBody>
                  <a:tcPr marL="109728" marR="73152"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555555"/>
                          </a:solidFill>
                          <a:latin typeface="Microsoft YaHei"/>
                        </a:defRPr>
                      </a:pPr>
                      <a:r>
                        <a:rPr dirty="0"/>
                        <a:t>float</a:t>
                      </a:r>
                    </a:p>
                  </a:txBody>
                  <a:tcPr marL="109728" marR="73152"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555555"/>
                          </a:solidFill>
                          <a:latin typeface="Microsoft YaHei"/>
                        </a:defRPr>
                      </a:pPr>
                      <a:r>
                        <a:rPr dirty="0"/>
                        <a:t>216片单电池的实时电压(V)，</a:t>
                      </a:r>
                      <a:r>
                        <a:rPr dirty="0" err="1"/>
                        <a:t>核心监测特征</a:t>
                      </a:r>
                      <a:endParaRPr dirty="0"/>
                    </a:p>
                  </a:txBody>
                  <a:tcPr marL="109728" marR="73152"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电堆参数</a:t>
                      </a:r>
                    </a:p>
                  </a:txBody>
                  <a:tcPr marL="109728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电堆总电压 / 电堆总电流 / 电堆功率</a:t>
                      </a:r>
                    </a:p>
                  </a:txBody>
                  <a:tcPr marL="109728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555555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marL="109728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555555"/>
                          </a:solidFill>
                          <a:latin typeface="Microsoft YaHei"/>
                        </a:defRPr>
                      </a:pPr>
                      <a:r>
                        <a:t>float</a:t>
                      </a:r>
                    </a:p>
                  </a:txBody>
                  <a:tcPr marL="109728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555555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电堆的宏观运行参数，反映输出性能</a:t>
                      </a:r>
                      <a:endParaRPr dirty="0"/>
                    </a:p>
                  </a:txBody>
                  <a:tcPr marL="109728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故障标签</a:t>
                      </a:r>
                    </a:p>
                  </a:txBody>
                  <a:tcPr marL="109728" marR="73152"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类型 (0 / 1 / 2)</a:t>
                      </a:r>
                    </a:p>
                  </a:txBody>
                  <a:tcPr marL="109728" marR="73152"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555555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marL="109728" marR="73152"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555555"/>
                          </a:solidFill>
                          <a:latin typeface="Microsoft YaHei"/>
                        </a:defRPr>
                      </a:pPr>
                      <a:r>
                        <a:t>int</a:t>
                      </a:r>
                    </a:p>
                  </a:txBody>
                  <a:tcPr marL="109728" marR="73152"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555555"/>
                          </a:solidFill>
                          <a:latin typeface="Microsoft YaHei"/>
                        </a:defRPr>
                      </a:pPr>
                      <a:r>
                        <a:rPr dirty="0"/>
                        <a:t>0＝正常(1752条)  1＝故障类型1(2036条)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  <a:defRPr sz="1200" b="0">
                          <a:solidFill>
                            <a:srgbClr val="555555"/>
                          </a:solidFill>
                          <a:latin typeface="Microsoft YaHei"/>
                        </a:defRPr>
                      </a:pPr>
                      <a:r>
                        <a:rPr dirty="0"/>
                        <a:t>2＝故障类型2(7349条)</a:t>
                      </a:r>
                    </a:p>
                  </a:txBody>
                  <a:tcPr marL="109728" marR="73152"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8188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01  数据集介绍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3774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37744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65A8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11,137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总样本量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371600"/>
            <a:ext cx="23774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37744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66160" y="1554480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C7293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4884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原始特征维度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371600"/>
            <a:ext cx="23774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35040" y="1371600"/>
            <a:ext cx="23774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17920" y="1554480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D9488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4884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故障类别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3774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686800" y="1371600"/>
            <a:ext cx="237744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869680" y="1554480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96167"/>
                </a:solidFill>
                <a:latin typeface="Calibri"/>
              </a:defRPr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69680" y="214884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筛选后特征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926080"/>
            <a:ext cx="50292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05840" y="30632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样本类别分布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520440"/>
            <a:ext cx="4572000" cy="1549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类别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0（正常）：1,752 条（15.7%）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类别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1（过干故障）：2,036 条（18.3%）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类别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2（过湿故障）：7,349 条（66.0%）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数据来源：企业实际燃料电池测试平台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文件格式：Excel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含时序传感器数据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17920" y="2926080"/>
            <a:ext cx="50292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92240" y="30632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特征工程策略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520440"/>
            <a:ext cx="4572000" cy="129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GBDT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特征重要性筛选，保留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Top-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特征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sz="1300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最终选用特征</a:t>
            </a:r>
            <a:r>
              <a:rPr sz="13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sz="13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电堆总电压、单片31</a:t>
            </a:r>
            <a:r>
              <a:rPr lang="zh-CN" altLang="en-US" sz="13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sz="1300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电堆总电流</a:t>
            </a:r>
            <a:r>
              <a:rPr sz="13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13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单片</a:t>
            </a:r>
            <a:r>
              <a:rPr lang="en-US" altLang="zh-CN" sz="13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63 </a:t>
            </a:r>
            <a:r>
              <a:rPr sz="13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endParaRPr lang="en-US" sz="1300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3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单片</a:t>
            </a: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154</a:t>
            </a:r>
            <a:r>
              <a:rPr lang="zh-CN" altLang="en-US" sz="13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、单片</a:t>
            </a:r>
            <a:r>
              <a:rPr lang="en-US" altLang="zh-CN" sz="13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zh-CN" altLang="en-US" sz="13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、</a:t>
            </a:r>
            <a:r>
              <a:rPr lang="en-US" altLang="zh-CN" sz="13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EIS</a:t>
            </a:r>
            <a:r>
              <a:rPr lang="zh-CN" altLang="en-US" sz="13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电阻实部、</a:t>
            </a:r>
            <a:r>
              <a:rPr sz="1300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标准差</a:t>
            </a:r>
            <a:endParaRPr sz="1300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01  数据特征可视化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748DAFC-C020-3541-112A-9926C90D8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351" y="1005840"/>
            <a:ext cx="4525297" cy="58182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02  模型架构：EnhancedMSTGAT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572768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572768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1188720" y="155448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389888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特征转换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389888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rPr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→ GELU</a:t>
            </a:r>
            <a:br>
              <a:rPr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维度映射到192</a:t>
            </a:r>
          </a:p>
        </p:txBody>
      </p:sp>
      <p:sp>
        <p:nvSpPr>
          <p:cNvPr id="9" name="Rectangle 8"/>
          <p:cNvSpPr/>
          <p:nvPr/>
        </p:nvSpPr>
        <p:spPr>
          <a:xfrm>
            <a:off x="2395728" y="1371600"/>
            <a:ext cx="1572768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395728" y="1371600"/>
            <a:ext cx="1572768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2944368" y="155448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2148840"/>
            <a:ext cx="1389888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序列化 + 位置编码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560320"/>
            <a:ext cx="1389888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RepeatVector(15)</a:t>
            </a:r>
            <a:b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可学习位置嵌入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51376" y="1371600"/>
            <a:ext cx="1572768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151376" y="1371600"/>
            <a:ext cx="1572768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700016" y="155448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42816" y="2148840"/>
            <a:ext cx="1389888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扩张因果卷积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2816" y="2560320"/>
            <a:ext cx="1389888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双层 DilatedCausal</a:t>
            </a:r>
            <a:b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Conv1D, dilation=4</a:t>
            </a:r>
            <a:b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残差连接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07024" y="1371600"/>
            <a:ext cx="1572768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907024" y="1371600"/>
            <a:ext cx="1572768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6455664" y="155448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98464" y="2148840"/>
            <a:ext cx="1389888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双向GRU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98464" y="2560320"/>
            <a:ext cx="1389888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Bidirectional GRU</a:t>
            </a:r>
            <a:b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时序特征提取</a:t>
            </a:r>
            <a:b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return_sequences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62672" y="1371600"/>
            <a:ext cx="1572768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662672" y="1371600"/>
            <a:ext cx="1572768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8211312" y="155448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2148840"/>
            <a:ext cx="1389888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图注意力机制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2" y="2560320"/>
            <a:ext cx="1389888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KNN图构建 (k=6)</a:t>
            </a:r>
            <a:b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边感知多头注意力</a:t>
            </a:r>
            <a:b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+ 双层标准注意力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20" y="1371600"/>
            <a:ext cx="1572768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418320" y="1371600"/>
            <a:ext cx="1572768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9966960" y="155448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2148840"/>
            <a:ext cx="1389888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注意力池化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+ 分类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2560320"/>
            <a:ext cx="1389888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加权池化 → Dense</a:t>
            </a:r>
            <a:b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Softmax → 3类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12848" y="2194560"/>
            <a:ext cx="182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68496" y="2194560"/>
            <a:ext cx="182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24144" y="2194560"/>
            <a:ext cx="182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9792" y="2194560"/>
            <a:ext cx="182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2194560"/>
            <a:ext cx="182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749039"/>
            <a:ext cx="1069848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868680" y="4389120"/>
            <a:ext cx="164592" cy="16459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143000" y="43434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多尺度时空图注意力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0" y="43434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结合扩张因果卷积（时间维度）与 KNN 图注意力（空间维度），同时建模时序依赖和传感器间关联</a:t>
            </a:r>
          </a:p>
        </p:txBody>
      </p:sp>
      <p:sp>
        <p:nvSpPr>
          <p:cNvPr id="44" name="Oval 43"/>
          <p:cNvSpPr/>
          <p:nvPr/>
        </p:nvSpPr>
        <p:spPr>
          <a:xfrm>
            <a:off x="868680" y="4892040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43000" y="48463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边感知注意力机制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0" y="48463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将邻接矩阵信息作为 Edge Bias 注入注意力计算，增强图结构约束力</a:t>
            </a:r>
          </a:p>
        </p:txBody>
      </p:sp>
      <p:sp>
        <p:nvSpPr>
          <p:cNvPr id="47" name="Oval 46"/>
          <p:cNvSpPr/>
          <p:nvPr/>
        </p:nvSpPr>
        <p:spPr>
          <a:xfrm>
            <a:off x="868680" y="5394960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143000" y="53492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QAAdamW 优化器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74720" y="53492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融合 AdaBelief 自适应梯度 + 权重衰减 + 噪声注入正则化，提升收敛稳定性</a:t>
            </a:r>
          </a:p>
        </p:txBody>
      </p:sp>
      <p:sp>
        <p:nvSpPr>
          <p:cNvPr id="50" name="Oval 49"/>
          <p:cNvSpPr/>
          <p:nvPr/>
        </p:nvSpPr>
        <p:spPr>
          <a:xfrm>
            <a:off x="868680" y="5897880"/>
            <a:ext cx="164592" cy="164592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143000" y="58521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CEO 超参数搜索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0" y="58521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进化优化算法自动搜索最优超参数组合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CA50E-8452-59D3-EF87-0E9751352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E14399-1E73-33D3-ED4B-FF42EB8AAB90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8806F5-732B-2447-702D-8C4EF3B309A3}"/>
              </a:ext>
            </a:extLst>
          </p:cNvPr>
          <p:cNvSpPr txBox="1"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02  模型架构：EnhancedMSTGAT</a:t>
            </a:r>
          </a:p>
        </p:txBody>
      </p:sp>
      <p:sp>
        <p:nvSpPr>
          <p:cNvPr id="55" name="TextBox 4">
            <a:extLst>
              <a:ext uri="{FF2B5EF4-FFF2-40B4-BE49-F238E27FC236}">
                <a16:creationId xmlns:a16="http://schemas.microsoft.com/office/drawing/2014/main" id="{1BFEC411-6E2A-24E0-49B4-CE9556DB8F18}"/>
              </a:ext>
            </a:extLst>
          </p:cNvPr>
          <p:cNvSpPr txBox="1"/>
          <p:nvPr/>
        </p:nvSpPr>
        <p:spPr>
          <a:xfrm>
            <a:off x="5804817" y="6367790"/>
            <a:ext cx="8899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100" dirty="0">
                <a:solidFill>
                  <a:srgbClr val="6B7B8D"/>
                </a:solidFill>
              </a:rPr>
              <a:t>模型架构图</a:t>
            </a:r>
            <a:endParaRPr sz="1100" dirty="0">
              <a:solidFill>
                <a:srgbClr val="6B7B8D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5098367-6E2F-0663-024E-70D8FAAD0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056" y="1537784"/>
            <a:ext cx="7465508" cy="460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388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03  参数优化与训练配置</a:t>
            </a:r>
          </a:p>
        </p:txBody>
      </p:sp>
      <p:sp>
        <p:nvSpPr>
          <p:cNvPr id="65" name="TextBox 4">
            <a:extLst>
              <a:ext uri="{FF2B5EF4-FFF2-40B4-BE49-F238E27FC236}">
                <a16:creationId xmlns:a16="http://schemas.microsoft.com/office/drawing/2014/main" id="{90D8C498-B1B4-C893-DD35-B6C2E0726FAF}"/>
              </a:ext>
            </a:extLst>
          </p:cNvPr>
          <p:cNvSpPr txBox="1"/>
          <p:nvPr/>
        </p:nvSpPr>
        <p:spPr>
          <a:xfrm>
            <a:off x="5545132" y="6367790"/>
            <a:ext cx="140936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sz="1100" dirty="0">
                <a:solidFill>
                  <a:srgbClr val="6B7B8D"/>
                </a:solidFill>
              </a:rPr>
              <a:t>CEO</a:t>
            </a:r>
            <a:r>
              <a:rPr lang="zh-CN" altLang="en-US" sz="1100" dirty="0">
                <a:solidFill>
                  <a:srgbClr val="6B7B8D"/>
                </a:solidFill>
              </a:rPr>
              <a:t>优化算法流程图</a:t>
            </a:r>
            <a:endParaRPr sz="1100" dirty="0">
              <a:solidFill>
                <a:srgbClr val="6B7B8D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8912C2-941E-61F6-94A7-18B335AD1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5135" y="1014968"/>
            <a:ext cx="6249354" cy="5352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53C56-1ED0-CFC6-1AB3-516EA3F22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E5D92D-9BDA-9DA0-D639-13D8EBF67B6F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FA8DA0-E020-BF6C-F299-5FD907435E07}"/>
              </a:ext>
            </a:extLst>
          </p:cNvPr>
          <p:cNvSpPr txBox="1"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03  参数优化与训练配置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B00EC6-DB1E-6996-4E8C-BB917458E7A2}"/>
              </a:ext>
            </a:extLst>
          </p:cNvPr>
          <p:cNvSpPr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C7E8A1-3CEF-C953-3255-60F634CEC064}"/>
              </a:ext>
            </a:extLst>
          </p:cNvPr>
          <p:cNvSpPr txBox="1"/>
          <p:nvPr/>
        </p:nvSpPr>
        <p:spPr>
          <a:xfrm>
            <a:off x="1005840" y="1508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CEO 搜索最优超参数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6CFAEE-B88F-9ACD-A4E9-781A337551D4}"/>
              </a:ext>
            </a:extLst>
          </p:cNvPr>
          <p:cNvSpPr/>
          <p:nvPr/>
        </p:nvSpPr>
        <p:spPr>
          <a:xfrm>
            <a:off x="914400" y="2011680"/>
            <a:ext cx="466344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AD6D4A-D5D0-A63B-1141-D7C3D7AE7762}"/>
              </a:ext>
            </a:extLst>
          </p:cNvPr>
          <p:cNvSpPr txBox="1"/>
          <p:nvPr/>
        </p:nvSpPr>
        <p:spPr>
          <a:xfrm>
            <a:off x="1005840" y="2029968"/>
            <a:ext cx="2743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learning_rate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1F7FC-A0E1-E3CB-DF2F-474F42B2AA0A}"/>
              </a:ext>
            </a:extLst>
          </p:cNvPr>
          <p:cNvSpPr txBox="1"/>
          <p:nvPr/>
        </p:nvSpPr>
        <p:spPr>
          <a:xfrm>
            <a:off x="3749039" y="2029968"/>
            <a:ext cx="16459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0.000813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60B4DF-BBF6-6E35-178B-AF843D2465B2}"/>
              </a:ext>
            </a:extLst>
          </p:cNvPr>
          <p:cNvSpPr/>
          <p:nvPr/>
        </p:nvSpPr>
        <p:spPr>
          <a:xfrm>
            <a:off x="914400" y="2377440"/>
            <a:ext cx="4663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19E7E1-ECF0-3865-29BC-6E8D0B87B8D6}"/>
              </a:ext>
            </a:extLst>
          </p:cNvPr>
          <p:cNvSpPr txBox="1"/>
          <p:nvPr/>
        </p:nvSpPr>
        <p:spPr>
          <a:xfrm>
            <a:off x="1005840" y="2395728"/>
            <a:ext cx="2743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weight_decay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3E34A0-9EF7-BC46-A365-007B93DC3DA1}"/>
              </a:ext>
            </a:extLst>
          </p:cNvPr>
          <p:cNvSpPr txBox="1"/>
          <p:nvPr/>
        </p:nvSpPr>
        <p:spPr>
          <a:xfrm>
            <a:off x="3749039" y="2395728"/>
            <a:ext cx="16459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0.000427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36FC21-505E-A1D3-26EE-CB8C4151C3CE}"/>
              </a:ext>
            </a:extLst>
          </p:cNvPr>
          <p:cNvSpPr/>
          <p:nvPr/>
        </p:nvSpPr>
        <p:spPr>
          <a:xfrm>
            <a:off x="914400" y="2743200"/>
            <a:ext cx="466344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035F4B-B2EE-9C6F-4F54-FBC8F227D983}"/>
              </a:ext>
            </a:extLst>
          </p:cNvPr>
          <p:cNvSpPr txBox="1"/>
          <p:nvPr/>
        </p:nvSpPr>
        <p:spPr>
          <a:xfrm>
            <a:off x="1005840" y="2761488"/>
            <a:ext cx="2743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hidden_units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4D687F-50B8-B06D-04B5-2E15EDB38EF0}"/>
              </a:ext>
            </a:extLst>
          </p:cNvPr>
          <p:cNvSpPr txBox="1"/>
          <p:nvPr/>
        </p:nvSpPr>
        <p:spPr>
          <a:xfrm>
            <a:off x="3749039" y="2761488"/>
            <a:ext cx="16459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192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6056FB-8F27-67D3-5FB3-1D6D9F140909}"/>
              </a:ext>
            </a:extLst>
          </p:cNvPr>
          <p:cNvSpPr/>
          <p:nvPr/>
        </p:nvSpPr>
        <p:spPr>
          <a:xfrm>
            <a:off x="914400" y="3108960"/>
            <a:ext cx="4663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1E5BF1-869F-A80F-7D63-E5968731E16B}"/>
              </a:ext>
            </a:extLst>
          </p:cNvPr>
          <p:cNvSpPr txBox="1"/>
          <p:nvPr/>
        </p:nvSpPr>
        <p:spPr>
          <a:xfrm>
            <a:off x="1005840" y="3127248"/>
            <a:ext cx="2743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attention_heads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47C33-0FD2-8A75-87B3-04A58BD2B6FD}"/>
              </a:ext>
            </a:extLst>
          </p:cNvPr>
          <p:cNvSpPr txBox="1"/>
          <p:nvPr/>
        </p:nvSpPr>
        <p:spPr>
          <a:xfrm>
            <a:off x="3749039" y="3127248"/>
            <a:ext cx="16459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B2D961-869C-CADE-0B00-F80A74E8CFDB}"/>
              </a:ext>
            </a:extLst>
          </p:cNvPr>
          <p:cNvSpPr/>
          <p:nvPr/>
        </p:nvSpPr>
        <p:spPr>
          <a:xfrm>
            <a:off x="914400" y="3474720"/>
            <a:ext cx="466344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061642-AE5C-7836-FE86-EEFC673A8835}"/>
              </a:ext>
            </a:extLst>
          </p:cNvPr>
          <p:cNvSpPr txBox="1"/>
          <p:nvPr/>
        </p:nvSpPr>
        <p:spPr>
          <a:xfrm>
            <a:off x="1005840" y="3493008"/>
            <a:ext cx="2743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max_sequence_length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4921EE-F6EF-51FF-B633-03752C4F2F99}"/>
              </a:ext>
            </a:extLst>
          </p:cNvPr>
          <p:cNvSpPr txBox="1"/>
          <p:nvPr/>
        </p:nvSpPr>
        <p:spPr>
          <a:xfrm>
            <a:off x="3749039" y="3493008"/>
            <a:ext cx="16459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C31DCA-23BB-8C4D-DA4E-1B7DA523032F}"/>
              </a:ext>
            </a:extLst>
          </p:cNvPr>
          <p:cNvSpPr/>
          <p:nvPr/>
        </p:nvSpPr>
        <p:spPr>
          <a:xfrm>
            <a:off x="914400" y="3840480"/>
            <a:ext cx="4663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61C7AC-F43C-4583-BD55-1BD43345C066}"/>
              </a:ext>
            </a:extLst>
          </p:cNvPr>
          <p:cNvSpPr txBox="1"/>
          <p:nvPr/>
        </p:nvSpPr>
        <p:spPr>
          <a:xfrm>
            <a:off x="1005840" y="3858768"/>
            <a:ext cx="2743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knn_top_k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A58C27-2B62-BAF2-3EDB-21B12C520725}"/>
              </a:ext>
            </a:extLst>
          </p:cNvPr>
          <p:cNvSpPr txBox="1"/>
          <p:nvPr/>
        </p:nvSpPr>
        <p:spPr>
          <a:xfrm>
            <a:off x="3749039" y="3858768"/>
            <a:ext cx="16459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4B1E31-F3A8-EC12-EF13-8C06953888CE}"/>
              </a:ext>
            </a:extLst>
          </p:cNvPr>
          <p:cNvSpPr/>
          <p:nvPr/>
        </p:nvSpPr>
        <p:spPr>
          <a:xfrm>
            <a:off x="914400" y="4206240"/>
            <a:ext cx="466344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EAF542-BCBC-BCDC-6986-B4EF97383288}"/>
              </a:ext>
            </a:extLst>
          </p:cNvPr>
          <p:cNvSpPr txBox="1"/>
          <p:nvPr/>
        </p:nvSpPr>
        <p:spPr>
          <a:xfrm>
            <a:off x="1005840" y="4224528"/>
            <a:ext cx="2743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dropout_rate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639FFB-8C64-6400-928C-77235DA90005}"/>
              </a:ext>
            </a:extLst>
          </p:cNvPr>
          <p:cNvSpPr txBox="1"/>
          <p:nvPr/>
        </p:nvSpPr>
        <p:spPr>
          <a:xfrm>
            <a:off x="3749039" y="4224528"/>
            <a:ext cx="16459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0.206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ECCA0A-667C-CBFE-CB30-8E1132B69874}"/>
              </a:ext>
            </a:extLst>
          </p:cNvPr>
          <p:cNvSpPr/>
          <p:nvPr/>
        </p:nvSpPr>
        <p:spPr>
          <a:xfrm>
            <a:off x="914400" y="4572000"/>
            <a:ext cx="4663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76891B-26C6-9155-6DB3-CBDB7B2F76AB}"/>
              </a:ext>
            </a:extLst>
          </p:cNvPr>
          <p:cNvSpPr txBox="1"/>
          <p:nvPr/>
        </p:nvSpPr>
        <p:spPr>
          <a:xfrm>
            <a:off x="1005840" y="4590288"/>
            <a:ext cx="2743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initial_noise_factor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C3FEF4-0C6B-585D-6FFE-3DBC7CF73776}"/>
              </a:ext>
            </a:extLst>
          </p:cNvPr>
          <p:cNvSpPr txBox="1"/>
          <p:nvPr/>
        </p:nvSpPr>
        <p:spPr>
          <a:xfrm>
            <a:off x="3749039" y="4590288"/>
            <a:ext cx="16459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0.024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229CAB1-8336-23D8-92D4-8B3F3D3758A6}"/>
              </a:ext>
            </a:extLst>
          </p:cNvPr>
          <p:cNvSpPr/>
          <p:nvPr/>
        </p:nvSpPr>
        <p:spPr>
          <a:xfrm>
            <a:off x="914400" y="4937760"/>
            <a:ext cx="466344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001378A-B73D-B1DF-956B-C6BE8A4A8CEC}"/>
              </a:ext>
            </a:extLst>
          </p:cNvPr>
          <p:cNvSpPr txBox="1"/>
          <p:nvPr/>
        </p:nvSpPr>
        <p:spPr>
          <a:xfrm>
            <a:off x="1005840" y="4956048"/>
            <a:ext cx="2743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dilation_rate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41B297-FCC9-944F-E125-6E220696E62A}"/>
              </a:ext>
            </a:extLst>
          </p:cNvPr>
          <p:cNvSpPr txBox="1"/>
          <p:nvPr/>
        </p:nvSpPr>
        <p:spPr>
          <a:xfrm>
            <a:off x="3749039" y="4956048"/>
            <a:ext cx="16459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1F878A6-D665-27F5-8AA9-C2A7383906BC}"/>
              </a:ext>
            </a:extLst>
          </p:cNvPr>
          <p:cNvSpPr/>
          <p:nvPr/>
        </p:nvSpPr>
        <p:spPr>
          <a:xfrm>
            <a:off x="914400" y="5303520"/>
            <a:ext cx="4663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6526566-CC96-A6DB-99C0-A2AB7847DE09}"/>
              </a:ext>
            </a:extLst>
          </p:cNvPr>
          <p:cNvSpPr txBox="1"/>
          <p:nvPr/>
        </p:nvSpPr>
        <p:spPr>
          <a:xfrm>
            <a:off x="1005840" y="5321808"/>
            <a:ext cx="2743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use_batch_norm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23EE72-7B9B-E091-EA6E-910962E5BF41}"/>
              </a:ext>
            </a:extLst>
          </p:cNvPr>
          <p:cNvSpPr txBox="1"/>
          <p:nvPr/>
        </p:nvSpPr>
        <p:spPr>
          <a:xfrm>
            <a:off x="3749039" y="5321808"/>
            <a:ext cx="16459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A6D2EC2-0D52-EE64-17FF-5A2E4F6BBE3A}"/>
              </a:ext>
            </a:extLst>
          </p:cNvPr>
          <p:cNvSpPr/>
          <p:nvPr/>
        </p:nvSpPr>
        <p:spPr>
          <a:xfrm>
            <a:off x="914400" y="5669280"/>
            <a:ext cx="466344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E36679-BAEA-CB01-303E-3A6EB56444E9}"/>
              </a:ext>
            </a:extLst>
          </p:cNvPr>
          <p:cNvSpPr txBox="1"/>
          <p:nvPr/>
        </p:nvSpPr>
        <p:spPr>
          <a:xfrm>
            <a:off x="1005840" y="5687568"/>
            <a:ext cx="2743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embedding_dim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B0CCF1-644D-A784-C474-0FE0B68C88E6}"/>
              </a:ext>
            </a:extLst>
          </p:cNvPr>
          <p:cNvSpPr txBox="1"/>
          <p:nvPr/>
        </p:nvSpPr>
        <p:spPr>
          <a:xfrm>
            <a:off x="3749039" y="5687568"/>
            <a:ext cx="16459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160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E5D6DE2-9FBA-3D26-CE68-625C49339627}"/>
              </a:ext>
            </a:extLst>
          </p:cNvPr>
          <p:cNvSpPr/>
          <p:nvPr/>
        </p:nvSpPr>
        <p:spPr>
          <a:xfrm>
            <a:off x="6217920" y="137160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9935006-80D6-C1AF-6830-57247E9B625E}"/>
              </a:ext>
            </a:extLst>
          </p:cNvPr>
          <p:cNvSpPr txBox="1"/>
          <p:nvPr/>
        </p:nvSpPr>
        <p:spPr>
          <a:xfrm>
            <a:off x="6492240" y="1508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训练配置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9CF64C6-2E8D-383A-6A48-7563011295B7}"/>
              </a:ext>
            </a:extLst>
          </p:cNvPr>
          <p:cNvSpPr/>
          <p:nvPr/>
        </p:nvSpPr>
        <p:spPr>
          <a:xfrm>
            <a:off x="6400800" y="1844536"/>
            <a:ext cx="466344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268A4D-C2A6-B721-28EF-968D787CDD4D}"/>
              </a:ext>
            </a:extLst>
          </p:cNvPr>
          <p:cNvSpPr txBox="1"/>
          <p:nvPr/>
        </p:nvSpPr>
        <p:spPr>
          <a:xfrm>
            <a:off x="6492240" y="1862824"/>
            <a:ext cx="22860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训练轮次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F195E1B-CBAC-9923-CF48-A78C80E1D87F}"/>
              </a:ext>
            </a:extLst>
          </p:cNvPr>
          <p:cNvSpPr txBox="1"/>
          <p:nvPr/>
        </p:nvSpPr>
        <p:spPr>
          <a:xfrm>
            <a:off x="8778240" y="1862824"/>
            <a:ext cx="21031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100 Epochs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F6D6888-DCAA-7E68-F6FE-ECDDE5700591}"/>
              </a:ext>
            </a:extLst>
          </p:cNvPr>
          <p:cNvSpPr/>
          <p:nvPr/>
        </p:nvSpPr>
        <p:spPr>
          <a:xfrm>
            <a:off x="6400800" y="2210296"/>
            <a:ext cx="4663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B4E4A7-3FD7-652E-A040-1D8D153FA9E8}"/>
              </a:ext>
            </a:extLst>
          </p:cNvPr>
          <p:cNvSpPr txBox="1"/>
          <p:nvPr/>
        </p:nvSpPr>
        <p:spPr>
          <a:xfrm>
            <a:off x="6492240" y="2228584"/>
            <a:ext cx="22860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批大小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EB4055-59CF-75F1-1B7A-8DC8D4C8C699}"/>
              </a:ext>
            </a:extLst>
          </p:cNvPr>
          <p:cNvSpPr txBox="1"/>
          <p:nvPr/>
        </p:nvSpPr>
        <p:spPr>
          <a:xfrm>
            <a:off x="8778240" y="2228584"/>
            <a:ext cx="21031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1B6027-646D-A4E3-AE4C-32088025A3F2}"/>
              </a:ext>
            </a:extLst>
          </p:cNvPr>
          <p:cNvSpPr/>
          <p:nvPr/>
        </p:nvSpPr>
        <p:spPr>
          <a:xfrm>
            <a:off x="6400800" y="2576056"/>
            <a:ext cx="466344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34C4214-6E4D-0D38-6C58-360A05615A63}"/>
              </a:ext>
            </a:extLst>
          </p:cNvPr>
          <p:cNvSpPr txBox="1"/>
          <p:nvPr/>
        </p:nvSpPr>
        <p:spPr>
          <a:xfrm>
            <a:off x="6492240" y="2594344"/>
            <a:ext cx="22860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早停策略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68BB2B2-69EB-ABA4-50E8-26F58B644092}"/>
              </a:ext>
            </a:extLst>
          </p:cNvPr>
          <p:cNvSpPr txBox="1"/>
          <p:nvPr/>
        </p:nvSpPr>
        <p:spPr>
          <a:xfrm>
            <a:off x="8778240" y="2594344"/>
            <a:ext cx="21031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Patience = 15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36867DA-A658-99F9-3034-7F9241C82BD1}"/>
              </a:ext>
            </a:extLst>
          </p:cNvPr>
          <p:cNvSpPr/>
          <p:nvPr/>
        </p:nvSpPr>
        <p:spPr>
          <a:xfrm>
            <a:off x="6400800" y="2941816"/>
            <a:ext cx="4663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A1D1FD-E1BA-F51B-6EB1-95F1867622A7}"/>
              </a:ext>
            </a:extLst>
          </p:cNvPr>
          <p:cNvSpPr txBox="1"/>
          <p:nvPr/>
        </p:nvSpPr>
        <p:spPr>
          <a:xfrm>
            <a:off x="6492240" y="2960104"/>
            <a:ext cx="22860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学习率调度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CC3204-2026-CF09-4FF9-92B8DBDE3D82}"/>
              </a:ext>
            </a:extLst>
          </p:cNvPr>
          <p:cNvSpPr txBox="1"/>
          <p:nvPr/>
        </p:nvSpPr>
        <p:spPr>
          <a:xfrm>
            <a:off x="8778240" y="2960104"/>
            <a:ext cx="21031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Warmup + Cosine Decay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70FADB-5A35-B670-6BB2-372685A42AB1}"/>
              </a:ext>
            </a:extLst>
          </p:cNvPr>
          <p:cNvSpPr/>
          <p:nvPr/>
        </p:nvSpPr>
        <p:spPr>
          <a:xfrm>
            <a:off x="6400800" y="3307576"/>
            <a:ext cx="466344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51785DE-84FE-6F0E-1552-51C3B9F1A4AA}"/>
              </a:ext>
            </a:extLst>
          </p:cNvPr>
          <p:cNvSpPr txBox="1"/>
          <p:nvPr/>
        </p:nvSpPr>
        <p:spPr>
          <a:xfrm>
            <a:off x="6492240" y="3325864"/>
            <a:ext cx="22860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混合精度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DE24BA-95BD-A6ED-D3A5-E5BD94F36DC6}"/>
              </a:ext>
            </a:extLst>
          </p:cNvPr>
          <p:cNvSpPr txBox="1"/>
          <p:nvPr/>
        </p:nvSpPr>
        <p:spPr>
          <a:xfrm>
            <a:off x="8778240" y="3325864"/>
            <a:ext cx="21031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支持 mixed_float16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544D12E-1BC0-CDB5-7CDE-829FE7D9E975}"/>
              </a:ext>
            </a:extLst>
          </p:cNvPr>
          <p:cNvSpPr/>
          <p:nvPr/>
        </p:nvSpPr>
        <p:spPr>
          <a:xfrm>
            <a:off x="6217920" y="3931920"/>
            <a:ext cx="50292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192BB43-E85C-321A-CF65-4FC71D2694A8}"/>
              </a:ext>
            </a:extLst>
          </p:cNvPr>
          <p:cNvSpPr txBox="1"/>
          <p:nvPr/>
        </p:nvSpPr>
        <p:spPr>
          <a:xfrm>
            <a:off x="6492240" y="4069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QAAdam_Lite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优化器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E0DE4D7-7A20-8C86-2730-EC7CDDA96F53}"/>
              </a:ext>
            </a:extLst>
          </p:cNvPr>
          <p:cNvSpPr txBox="1"/>
          <p:nvPr/>
        </p:nvSpPr>
        <p:spPr>
          <a:xfrm>
            <a:off x="6492240" y="4526280"/>
            <a:ext cx="4572000" cy="1456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基于 AdaBelief 自适应学习率估计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融合解耦权重衰减（Decoupled Weight Decay）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梯度噪声注入，训练中逐步衰减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Warmup + 余弦退火学习率调度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支持混合精度训练（float16 + float32）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字典式变量管理，兼容 CEO 搜索</a:t>
            </a:r>
          </a:p>
        </p:txBody>
      </p:sp>
    </p:spTree>
    <p:extLst>
      <p:ext uri="{BB962C8B-B14F-4D97-AF65-F5344CB8AC3E}">
        <p14:creationId xmlns:p14="http://schemas.microsoft.com/office/powerpoint/2010/main" val="1711708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04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特征重要性分析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2327CC3-F532-085E-B106-DC7699DB1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227" y="1084216"/>
            <a:ext cx="4419600" cy="56823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89C80-AE2B-BB4F-5D73-79ECEB66B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964CE3-B80E-8641-D87C-83B97977FE96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137F18-1174-26CA-5670-ED571D26A9C8}"/>
              </a:ext>
            </a:extLst>
          </p:cNvPr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04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特征重要性分析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16199D-3955-FE2A-AC6A-73D5A94AE04F}"/>
              </a:ext>
            </a:extLst>
          </p:cNvPr>
          <p:cNvSpPr/>
          <p:nvPr/>
        </p:nvSpPr>
        <p:spPr>
          <a:xfrm>
            <a:off x="731520" y="1353312"/>
            <a:ext cx="64008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34B221-2644-C46C-7BE3-A335F6B0ABB0}"/>
              </a:ext>
            </a:extLst>
          </p:cNvPr>
          <p:cNvSpPr txBox="1"/>
          <p:nvPr/>
        </p:nvSpPr>
        <p:spPr>
          <a:xfrm>
            <a:off x="1005840" y="141732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特征重要性排名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C7172E5-F0D6-6CC8-96F5-2AD0006FA1D1}"/>
              </a:ext>
            </a:extLst>
          </p:cNvPr>
          <p:cNvSpPr/>
          <p:nvPr/>
        </p:nvSpPr>
        <p:spPr>
          <a:xfrm>
            <a:off x="7498079" y="1280160"/>
            <a:ext cx="41148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87D5AB-4AF4-2F80-790E-8A47D38ED753}"/>
              </a:ext>
            </a:extLst>
          </p:cNvPr>
          <p:cNvSpPr txBox="1"/>
          <p:nvPr/>
        </p:nvSpPr>
        <p:spPr>
          <a:xfrm>
            <a:off x="7772400" y="1417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关键发现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0ACC69-A07A-62A2-84D4-87D65A886203}"/>
              </a:ext>
            </a:extLst>
          </p:cNvPr>
          <p:cNvSpPr txBox="1"/>
          <p:nvPr/>
        </p:nvSpPr>
        <p:spPr>
          <a:xfrm>
            <a:off x="7772400" y="1920240"/>
            <a:ext cx="36576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电堆总电压</a:t>
            </a:r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是最重要特征，是区分不同状态类别的核心指标 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单片31</a:t>
            </a:r>
            <a:r>
              <a: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电压</a:t>
            </a:r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zh-CN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电堆总电流</a:t>
            </a:r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紧随其后，体现了</a:t>
            </a:r>
            <a:r>
              <a:rPr lang="zh-CN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局部电压异常</a:t>
            </a:r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整体运行状态</a:t>
            </a:r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的重要性 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多个</a:t>
            </a:r>
            <a:r>
              <a:rPr lang="zh-CN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单片电压特征</a:t>
            </a:r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进入前列，说明模型对故障识别具有较强的单体敏感性 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EIS电阻实部</a:t>
            </a:r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提供了额外的阻抗信息，有助于增强状态判别能力 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标准差</a:t>
            </a:r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反映电压一致性，可作为辅助判别特征 </a:t>
            </a: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C32DFE33-2B74-0F11-1BA6-2181C5805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43448"/>
            <a:ext cx="6006116" cy="349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08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05  故障分类结果与对比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1089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1089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0B981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99.96%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80/20 划分准确率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71600"/>
            <a:ext cx="31089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06240" y="1371600"/>
            <a:ext cx="310896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20" y="155448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65A8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99.85%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4884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70/30 划分准确率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371600"/>
            <a:ext cx="31089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80960" y="1371600"/>
            <a:ext cx="310896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63840" y="155448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C7293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99.82%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14884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60/40 划分准确率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017520"/>
            <a:ext cx="64008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05840" y="315468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不同划分比例下的详细指标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611880"/>
            <a:ext cx="6035040" cy="34747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05840" y="3630168"/>
            <a:ext cx="10972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划分比例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630168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630168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630168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630168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977640"/>
            <a:ext cx="603504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05840" y="3995928"/>
            <a:ext cx="10972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80/20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3995928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99.96%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995928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99.96%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995928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99.96%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3995928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99.96%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4325112"/>
            <a:ext cx="60350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05840" y="4343400"/>
            <a:ext cx="10972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70/30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4343400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99.85%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4343400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99.85%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343400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99.85%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4343400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99.85%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4672584"/>
            <a:ext cx="603504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05840" y="4690872"/>
            <a:ext cx="10972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60/40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4690872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99.82%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4690872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99.82%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4690872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99.82%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4690872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99.82%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79" y="3017520"/>
            <a:ext cx="41148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72400" y="315468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GBDT 对比验证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3611880"/>
            <a:ext cx="3657600" cy="180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GBDT Top-10 特征测试精度：100%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新增数据分类结果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正常：1,850 条（35.1%）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过干：3,354 条（63.7%）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过湿：63 条（1.2%）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深度学习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GBDT 一致率：94.48%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FFE51-A59B-A4B2-A428-38B8AEDB1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12CBA5-9358-1628-A56E-FC724568CD86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298293-6F7E-ADC3-1E97-D677A218D738}"/>
              </a:ext>
            </a:extLst>
          </p:cNvPr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05  故障分类结果与对比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7896DB2-58B8-E38E-D9DA-8F43D31AF3D0}"/>
              </a:ext>
            </a:extLst>
          </p:cNvPr>
          <p:cNvSpPr txBox="1"/>
          <p:nvPr/>
        </p:nvSpPr>
        <p:spPr>
          <a:xfrm>
            <a:off x="9634909" y="4720293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8:2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DD4275E-7123-7C82-071F-FCD30E1BD0AE}"/>
              </a:ext>
            </a:extLst>
          </p:cNvPr>
          <p:cNvSpPr txBox="1"/>
          <p:nvPr/>
        </p:nvSpPr>
        <p:spPr>
          <a:xfrm>
            <a:off x="1873463" y="4720293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6:4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8DDB24F-C3CC-49A8-33BD-3F9C4B42F856}"/>
              </a:ext>
            </a:extLst>
          </p:cNvPr>
          <p:cNvSpPr txBox="1"/>
          <p:nvPr/>
        </p:nvSpPr>
        <p:spPr>
          <a:xfrm>
            <a:off x="5733269" y="4720293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7:3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AutoShape 2" descr="输出图片">
            <a:extLst>
              <a:ext uri="{FF2B5EF4-FFF2-40B4-BE49-F238E27FC236}">
                <a16:creationId xmlns:a16="http://schemas.microsoft.com/office/drawing/2014/main" id="{AD4ED7D6-83FA-43F8-9274-44F12D8A75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1706563"/>
            <a:ext cx="12192000" cy="3443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" name="AutoShape 4" descr="下载全中文归一化混淆矩阵">
            <a:extLst>
              <a:ext uri="{FF2B5EF4-FFF2-40B4-BE49-F238E27FC236}">
                <a16:creationId xmlns:a16="http://schemas.microsoft.com/office/drawing/2014/main" id="{7562ADEF-7CD9-B82B-5E44-DB1A72D436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6B1C0885-A14E-D768-315A-773F4ED2A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14" y="1443374"/>
            <a:ext cx="11602065" cy="327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32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06  离线部署方案与策略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329184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329184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模型序列化与加载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95144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1560" y="2240280"/>
            <a:ext cx="2697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保存为 .keras 格式（含自定义层注册）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706624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" y="2651760"/>
            <a:ext cx="2697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预处理元数据保存为 JSON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118104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1560" y="3063240"/>
            <a:ext cx="2697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包含：scaler 参数、特征名、类别映射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29584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1560" y="3474720"/>
            <a:ext cx="2697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异常值裁剪边界、缺失值填充规则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941064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1560" y="3886200"/>
            <a:ext cx="2697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支持增量微调（fine_tune 模块）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1371600"/>
            <a:ext cx="329184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51960" y="1371600"/>
            <a:ext cx="329184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34840" y="160020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16459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推理流水线</a:t>
            </a:r>
          </a:p>
        </p:txBody>
      </p:sp>
      <p:sp>
        <p:nvSpPr>
          <p:cNvPr id="22" name="Oval 21"/>
          <p:cNvSpPr/>
          <p:nvPr/>
        </p:nvSpPr>
        <p:spPr>
          <a:xfrm>
            <a:off x="4480560" y="2295144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63440" y="2240280"/>
            <a:ext cx="2697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加载 preprocess_meta.json 元数据</a:t>
            </a:r>
          </a:p>
        </p:txBody>
      </p:sp>
      <p:sp>
        <p:nvSpPr>
          <p:cNvPr id="24" name="Oval 23"/>
          <p:cNvSpPr/>
          <p:nvPr/>
        </p:nvSpPr>
        <p:spPr>
          <a:xfrm>
            <a:off x="4480560" y="2706624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63440" y="2651760"/>
            <a:ext cx="2697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应用训练集拟合的预处理规则</a:t>
            </a:r>
          </a:p>
        </p:txBody>
      </p:sp>
      <p:sp>
        <p:nvSpPr>
          <p:cNvPr id="26" name="Oval 25"/>
          <p:cNvSpPr/>
          <p:nvPr/>
        </p:nvSpPr>
        <p:spPr>
          <a:xfrm>
            <a:off x="4480560" y="3118104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63440" y="3063240"/>
            <a:ext cx="2697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 标准化（固定参数）</a:t>
            </a:r>
          </a:p>
        </p:txBody>
      </p:sp>
      <p:sp>
        <p:nvSpPr>
          <p:cNvPr id="28" name="Oval 27"/>
          <p:cNvSpPr/>
          <p:nvPr/>
        </p:nvSpPr>
        <p:spPr>
          <a:xfrm>
            <a:off x="4480560" y="3529584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663440" y="3474720"/>
            <a:ext cx="2697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模型前向推理 → Softmax 概率</a:t>
            </a:r>
          </a:p>
        </p:txBody>
      </p:sp>
      <p:sp>
        <p:nvSpPr>
          <p:cNvPr id="30" name="Oval 29"/>
          <p:cNvSpPr/>
          <p:nvPr/>
        </p:nvSpPr>
        <p:spPr>
          <a:xfrm>
            <a:off x="4480560" y="3941064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663440" y="3886200"/>
            <a:ext cx="2697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输出故障类别 + 置信度分数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1371600"/>
            <a:ext cx="329184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863840" y="1371600"/>
            <a:ext cx="32918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8046720" y="160020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16459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部署策略建议</a:t>
            </a:r>
          </a:p>
        </p:txBody>
      </p:sp>
      <p:sp>
        <p:nvSpPr>
          <p:cNvPr id="36" name="Oval 35"/>
          <p:cNvSpPr/>
          <p:nvPr/>
        </p:nvSpPr>
        <p:spPr>
          <a:xfrm>
            <a:off x="8092440" y="2295144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275320" y="2240280"/>
            <a:ext cx="2697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嵌入式：TF Lite 量化部署到边缘设备</a:t>
            </a:r>
          </a:p>
        </p:txBody>
      </p:sp>
      <p:sp>
        <p:nvSpPr>
          <p:cNvPr id="38" name="Oval 37"/>
          <p:cNvSpPr/>
          <p:nvPr/>
        </p:nvSpPr>
        <p:spPr>
          <a:xfrm>
            <a:off x="8092440" y="2706624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275320" y="2651760"/>
            <a:ext cx="2697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服务端：TF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Serving + REST API</a:t>
            </a:r>
          </a:p>
        </p:txBody>
      </p:sp>
      <p:sp>
        <p:nvSpPr>
          <p:cNvPr id="40" name="Oval 39"/>
          <p:cNvSpPr/>
          <p:nvPr/>
        </p:nvSpPr>
        <p:spPr>
          <a:xfrm>
            <a:off x="8092440" y="3118104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275320" y="3063240"/>
            <a:ext cx="2697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监控：设置置信度阈值报警</a:t>
            </a:r>
          </a:p>
        </p:txBody>
      </p:sp>
      <p:sp>
        <p:nvSpPr>
          <p:cNvPr id="42" name="Oval 41"/>
          <p:cNvSpPr/>
          <p:nvPr/>
        </p:nvSpPr>
        <p:spPr>
          <a:xfrm>
            <a:off x="8092440" y="3529584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275320" y="3474720"/>
            <a:ext cx="2697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数据闭环：低置信样本回流标注</a:t>
            </a:r>
          </a:p>
        </p:txBody>
      </p:sp>
      <p:sp>
        <p:nvSpPr>
          <p:cNvPr id="44" name="Oval 43"/>
          <p:cNvSpPr/>
          <p:nvPr/>
        </p:nvSpPr>
        <p:spPr>
          <a:xfrm>
            <a:off x="8092440" y="3941064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275320" y="3886200"/>
            <a:ext cx="2697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定期重训：纳入新工况数据微调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4754880"/>
            <a:ext cx="1060704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14400" y="4846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部署路线图</a:t>
            </a:r>
          </a:p>
        </p:txBody>
      </p:sp>
      <p:sp>
        <p:nvSpPr>
          <p:cNvPr id="48" name="Oval 47"/>
          <p:cNvSpPr/>
          <p:nvPr/>
        </p:nvSpPr>
        <p:spPr>
          <a:xfrm>
            <a:off x="914400" y="5349240"/>
            <a:ext cx="320040" cy="3200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234440" y="5477256"/>
            <a:ext cx="2240280" cy="3657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325880" y="525780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第一阶段：模型导出与验证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25880" y="55778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模型格式转换、离线测试集验证</a:t>
            </a:r>
          </a:p>
        </p:txBody>
      </p:sp>
      <p:sp>
        <p:nvSpPr>
          <p:cNvPr id="52" name="Oval 51"/>
          <p:cNvSpPr/>
          <p:nvPr/>
        </p:nvSpPr>
        <p:spPr>
          <a:xfrm>
            <a:off x="3474720" y="5349240"/>
            <a:ext cx="320040" cy="3200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794760" y="5477256"/>
            <a:ext cx="224028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886200" y="525780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第二阶段：集成与接口开发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86200" y="55778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REST API 封装、前端对接</a:t>
            </a:r>
          </a:p>
        </p:txBody>
      </p:sp>
      <p:sp>
        <p:nvSpPr>
          <p:cNvPr id="56" name="Oval 55"/>
          <p:cNvSpPr/>
          <p:nvPr/>
        </p:nvSpPr>
        <p:spPr>
          <a:xfrm>
            <a:off x="6035040" y="5349240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355080" y="5477256"/>
            <a:ext cx="224028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446520" y="525780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第三阶段：试运行与监控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46520" y="55778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实际工况测试、报警策略调优</a:t>
            </a:r>
          </a:p>
        </p:txBody>
      </p:sp>
      <p:sp>
        <p:nvSpPr>
          <p:cNvPr id="60" name="Oval 59"/>
          <p:cNvSpPr/>
          <p:nvPr/>
        </p:nvSpPr>
        <p:spPr>
          <a:xfrm>
            <a:off x="8595360" y="5349240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006840" y="525780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第四阶段：生产上线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06840" y="55778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全量部署、持续监控、数据回流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07 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新增数据集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3774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37744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65A8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2,874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加载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数据样本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83280" y="1371600"/>
            <a:ext cx="23774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37744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66160" y="1554480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C7293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2,393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4884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停机数据样本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371600"/>
            <a:ext cx="23774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35040" y="1371600"/>
            <a:ext cx="23774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17920" y="1554480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D9488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5,267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4884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总新增样本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3774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686800" y="1371600"/>
            <a:ext cx="237744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869680" y="1554480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96167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14884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特征维度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926080"/>
            <a:ext cx="50292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05840" y="30632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数据来源与处理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520440"/>
            <a:ext cx="4572000" cy="2051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来源：2月6日、7日完整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采集数据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合并：FCU xlsx + 阻抗 csv 时间对齐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分类方法：GBDT（梯度提升决策树）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训练集：正常/过干/过湿三类参考数据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特征：模型 Top-8 核心特征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与深度学习一致率：94.48%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17920" y="2926080"/>
            <a:ext cx="50292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92240" y="30632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GBDT 分类结论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520440"/>
            <a:ext cx="4572000" cy="1549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新增数据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GBDT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分类结果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正常：1,850 条（35.1%）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过干：3,354 条（63.7%）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08  新增数据 GBDT 分类结果与验证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3035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加载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数据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GBDT 分类（2,874 条）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828800"/>
            <a:ext cx="493776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837944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分类方法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837944"/>
            <a:ext cx="100584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正常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837944"/>
            <a:ext cx="100584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过干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37944"/>
            <a:ext cx="100584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过湿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167128"/>
            <a:ext cx="4937760" cy="32918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2176272"/>
            <a:ext cx="10972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深度学习模型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176272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65A8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1,222 (42.5%)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176272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65A8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1,645 (57.2%)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176272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65A8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7 (0.2%)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2514600"/>
            <a:ext cx="49377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2523744"/>
            <a:ext cx="10972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与模型一致率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523744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65A8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1,094 (38.1%)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523744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65A8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1,558 (54.2%)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523744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65A82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222 (7.7%)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2862072"/>
            <a:ext cx="4937760" cy="32918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4400" y="2871216"/>
            <a:ext cx="10972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与模型一致率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2871216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65A82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95.1%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2461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GBDT判定：与深度学习一致率95.1%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280160"/>
            <a:ext cx="53035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停机数据 GBDT 分类（2,393 条）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1828800"/>
            <a:ext cx="4937760" cy="320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83680" y="1837944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分类方法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1837944"/>
            <a:ext cx="100584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正常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1837944"/>
            <a:ext cx="100584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过干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1837944"/>
            <a:ext cx="100584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过湿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2167128"/>
            <a:ext cx="4937760" cy="32918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583680" y="2176272"/>
            <a:ext cx="10972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深度学习模型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2176272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C7293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289 (12.1%)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2176272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C7293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2,054 (85.8%)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2176272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C7293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50 (2.1%)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960" y="2514600"/>
            <a:ext cx="49377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583680" y="2523744"/>
            <a:ext cx="10972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GBDT分类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2523744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C7293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657 (27.5%)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2523744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C7293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1,689 (70.6%)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2523744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C7293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47 (2.0%)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7960" y="2862072"/>
            <a:ext cx="4937760" cy="32918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83680" y="2871216"/>
            <a:ext cx="10972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与模型一致率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2871216"/>
            <a:ext cx="3200400" cy="3383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C7293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90.0%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32461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GBDT判定：与深度学习一致率90.0%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4206240"/>
            <a:ext cx="106984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05840" y="43434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GBDT 分类结论</a:t>
            </a:r>
          </a:p>
        </p:txBody>
      </p:sp>
      <p:sp>
        <p:nvSpPr>
          <p:cNvPr id="52" name="Oval 51"/>
          <p:cNvSpPr/>
          <p:nvPr/>
        </p:nvSpPr>
        <p:spPr>
          <a:xfrm>
            <a:off x="1005840" y="4846320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280160" y="48006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分类一致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08960" y="4800600"/>
            <a:ext cx="8046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GBDT与深度学习模型综合一致率94.48%，验证分类可靠性</a:t>
            </a:r>
          </a:p>
        </p:txBody>
      </p:sp>
      <p:sp>
        <p:nvSpPr>
          <p:cNvPr id="58" name="Oval 57"/>
          <p:cNvSpPr/>
          <p:nvPr/>
        </p:nvSpPr>
        <p:spPr>
          <a:xfrm>
            <a:off x="1005840" y="5301359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280160" y="5255639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高置信度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08960" y="5255639"/>
            <a:ext cx="8046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深度学习平均置信度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加载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5.1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%、停机9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%，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两模型预测分布高度重叠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09  GBDT 分类结果可视化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0000" y="6650000"/>
            <a:ext cx="90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dirty="0" err="1">
                <a:solidFill>
                  <a:srgbClr val="666666"/>
                </a:solidFill>
              </a:rPr>
              <a:t>深度学习</a:t>
            </a:r>
            <a:r>
              <a:rPr sz="1100" dirty="0">
                <a:solidFill>
                  <a:srgbClr val="666666"/>
                </a:solidFill>
              </a:rPr>
              <a:t> vs GBDT </a:t>
            </a:r>
            <a:r>
              <a:rPr sz="1100" dirty="0" err="1">
                <a:solidFill>
                  <a:srgbClr val="666666"/>
                </a:solidFill>
              </a:rPr>
              <a:t>模型预测结果比对（样本数</a:t>
            </a:r>
            <a:r>
              <a:rPr sz="1100" dirty="0">
                <a:solidFill>
                  <a:srgbClr val="666666"/>
                </a:solidFill>
              </a:rPr>
              <a:t> &amp; </a:t>
            </a:r>
            <a:r>
              <a:rPr sz="1100" dirty="0" err="1">
                <a:solidFill>
                  <a:srgbClr val="666666"/>
                </a:solidFill>
              </a:rPr>
              <a:t>行比例</a:t>
            </a:r>
            <a:r>
              <a:rPr sz="1100" dirty="0">
                <a:solidFill>
                  <a:srgbClr val="666666"/>
                </a:solidFill>
              </a:rPr>
              <a:t>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2704EE9-90AF-BB71-6F0B-8AB29D1CFE05}"/>
              </a:ext>
            </a:extLst>
          </p:cNvPr>
          <p:cNvSpPr txBox="1"/>
          <p:nvPr/>
        </p:nvSpPr>
        <p:spPr>
          <a:xfrm>
            <a:off x="2477729" y="5476568"/>
            <a:ext cx="730635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深度学习模型与</a:t>
            </a:r>
            <a:r>
              <a:rPr lang="en-US" altLang="zh-CN" sz="13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GBDT</a:t>
            </a:r>
            <a:r>
              <a:rPr lang="zh-CN" altLang="en-US" sz="13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整体预测结果高度一致，三类样本的对角线占比均超过</a:t>
            </a:r>
            <a:r>
              <a:rPr lang="en-US" altLang="zh-CN" sz="13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90%</a:t>
            </a:r>
            <a:r>
              <a:rPr lang="zh-CN" altLang="en-US" sz="13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。其中“正常”类别一致性最高，“过干”与“正常”之间存在少量分歧，说明这两类在部分样本上仍有一定交叉。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F295336-89A2-4B80-5156-82E2F148A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276" y="1508760"/>
            <a:ext cx="8662219" cy="346488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E0153-8BEC-A210-275B-B16256710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47EA85-8357-0E72-92AB-EC258D24FB99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4C14B9-45D0-791C-3CDC-CDDCEFD6BCB5}"/>
              </a:ext>
            </a:extLst>
          </p:cNvPr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09  GBDT 分类结果可视化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742EABC-E9FD-AA49-DFEB-1EA3774C2FE1}"/>
              </a:ext>
            </a:extLst>
          </p:cNvPr>
          <p:cNvSpPr txBox="1"/>
          <p:nvPr/>
        </p:nvSpPr>
        <p:spPr>
          <a:xfrm>
            <a:off x="2477729" y="5476568"/>
            <a:ext cx="73063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基于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KS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统计量、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Bhattacharyya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距离和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Cohen’s d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三项指标，不同类别在特征分布上表现出明显差异。总体上，“过湿”类别区分度更强，而“过干”与其他类别存在一定重叠，这些结果可为后续特征筛选和模型优化提供依据。</a:t>
            </a:r>
            <a:endParaRPr lang="zh-CN" altLang="en-US" sz="1300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E633B24-E60B-869B-A67E-23E4E7C94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95" y="1346199"/>
            <a:ext cx="11447205" cy="381573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A490DA4-2A7A-FBE9-BF6C-DA52BCFC96BD}"/>
              </a:ext>
            </a:extLst>
          </p:cNvPr>
          <p:cNvSpPr/>
          <p:nvPr/>
        </p:nvSpPr>
        <p:spPr>
          <a:xfrm>
            <a:off x="4549140" y="1402080"/>
            <a:ext cx="266700" cy="1600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0171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9144000" y="4114800"/>
            <a:ext cx="3657600" cy="3657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229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总结</a:t>
            </a:r>
          </a:p>
        </p:txBody>
      </p:sp>
      <p:sp>
        <p:nvSpPr>
          <p:cNvPr id="5" name="Oval 4"/>
          <p:cNvSpPr/>
          <p:nvPr/>
        </p:nvSpPr>
        <p:spPr>
          <a:xfrm>
            <a:off x="2926080" y="2633472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0" y="256032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2E8F0"/>
                </a:solidFill>
                <a:latin typeface="Calibri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EnhancedMSTGAT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模型在三种划分比例下均达到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99.8%+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准确率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2926080" y="3136392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0400" y="306324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2E8F0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GBDT 对比验证进一步确认了分类结果的可靠性（一致率 94.48%）</a:t>
            </a:r>
          </a:p>
        </p:txBody>
      </p:sp>
      <p:sp>
        <p:nvSpPr>
          <p:cNvPr id="9" name="Oval 8"/>
          <p:cNvSpPr/>
          <p:nvPr/>
        </p:nvSpPr>
        <p:spPr>
          <a:xfrm>
            <a:off x="2926080" y="3639312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0" y="356616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2E8F0"/>
                </a:solidFill>
                <a:latin typeface="Calibri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新增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加载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停机数据：GBDT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判定以过干特征为主，物理解释合理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2926080" y="4142232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00400" y="406908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2E8F0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CEO 超参数优化显著提升了模型性能（自动搜索最优配置）</a:t>
            </a:r>
          </a:p>
        </p:txBody>
      </p:sp>
      <p:sp>
        <p:nvSpPr>
          <p:cNvPr id="13" name="Oval 12"/>
          <p:cNvSpPr/>
          <p:nvPr/>
        </p:nvSpPr>
        <p:spPr>
          <a:xfrm>
            <a:off x="2926080" y="4645152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00400" y="457200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2E8F0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完整的预处理-训练-评估-部署流水线，支持离线推理与增量微调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30352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1115</Words>
  <Application>Microsoft Office PowerPoint</Application>
  <PresentationFormat>宽屏</PresentationFormat>
  <Paragraphs>326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等线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曾明</cp:lastModifiedBy>
  <cp:revision>28</cp:revision>
  <dcterms:modified xsi:type="dcterms:W3CDTF">2026-04-14T01:59:17Z</dcterms:modified>
</cp:coreProperties>
</file>